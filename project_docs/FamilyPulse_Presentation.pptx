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Events</c:v>
                </c:pt>
              </c:strCache>
            </c:strRef>
          </c:tx>
          <c:spPr>
            <a:solidFill>
              <a:srgbClr val="E865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B647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3</c:v>
                </c:pt>
                <c:pt idx="4">
                  <c:v>6</c:v>
                </c:pt>
                <c:pt idx="5">
                  <c:v>9</c:v>
                </c:pt>
                <c:pt idx="6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5B647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— this is FamilyPulse, our group project for the ICT programme: a Flutter and Firebase mobile app that gives a family one shared, always-current calendar instead of scattered group-chat planning. Quick intro of the team and who did what, then into the walkthrough.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motivating problem first: coordination is hard not because families lack tools, but because chat is the wrong tool for scheduling. Then walk the four objectives that shaped every technical decision that follows — especially "room to grow," which foreshadows how much of today’s feature set (analytics, groups, free-time) wasn’t in the original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layers, each doing one job. The two worth dwelling on: Riverpod StreamProviders mean the UI never polls — Firestore pushes changes straight through; and GoRouter’s redirect is centralized access control, so every new screen we added (Groups, Analytics, Profile) got auth + family-membership gating for free, with zero extra code per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piece most course projects skip: security rules aren’t an afterthought here, they mirror the UI’s permission logic exactly. The parent-rename feature only works because the rule enforces the same restriction the UI already assumes — a parent editing a name, nothing else, and only for that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doubles as a fix report: two real bugs lived here — the hidden referral code after creation, and the join permission-denied error — both root-caused and confirmed fixed via live testing (screenshots in the report appendix).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Categories look like a small feature, but they unlocked the Analytics "by category" breakdown on the next slides — that view wasn’t meaningful until every event actually had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Analytics was pure roadmap scope, not a course requirement — worth calling out as going beyond the brief. The chart on screen uses illustrative numbers; in the real app every bar is computed live from that family’s own Firestore events, client-side, with zero extra backend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good example of building cleanly on top of a teammate’s work rather than around it — the backend function was already solid, it just had no screen calling it until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are the MVP version — group-specific calendars (each group getting its own event view) is the natural next step, and it is called out explicitly in the roadmap slide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feature from Slide 4’s security deep-dive in practice — the UI button only appears for a parent, and the rule backs that up server-side so it can’t be bypassed by calling Firestore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"two sources of truth" bug is a good one to narrate live — it’s exactly the kind of thing that looks fine in a demo and breaks quietly in real use, which is why it’s worth a dedicated slide rather than a footnote.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 — this is the "so what did we actually ship" slide. Almost all originally planned functionality is built ahead of the deadline; the one substantive item still open, recurring events and reminders, gets its own slot on the roadmap slide rather than being glossed 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CI email alert was a direct request mid-project, not part of the original plan — worth mentioning that the team kept improving its own workflow throughout, not just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general principle in both: a widget or route that creates a resource, or that promises to show the user something, is the one responsible for cleaning it up or making sure it’s seen — never leave that to whoever happens to call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stated exactly as written in the final report — factual, no editorializing. Handle the live discussion of it yourself; the slide only needs to establish what happened and what the team decided, not relitigate it in front of examiners.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scope that shrank, not scope that’s stuck — most of what used to live on this slide is now on the Results slide instead. The full prioritized backlog with owners and status lives in Appendix A of the written report (the tracker spreadsheet).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grounded, not hypey: the free tier is everything already shipped, so nobody loses functionality — Family Plus only gates the storage-heavy and calendar-sync features real competitors already charge for. The $19,500 figure is a napkin-math illustration of the model, not a forecast; say so out loud if asked. If examiners push on numbers, the honest answer is that validating real conversion rate would need a pilot — the point of this slide is that the pricing model itself is not speculative, since two direct competitors already run it profitably.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inviting questions. Good places examiners may probe: the security-rules design (Slide 4), the two root-caused bugs (Slide 14), or the FlutterFlow team situation (Slide 15) — all three are backed by detail in the written report and tracker if a deeper answer is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image" Target="../media/image-7-5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mily_pulse_docs/deck/icons/heartbeat_1E2A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4160520"/>
            <a:ext cx="5120640" cy="5120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914400"/>
            <a:ext cx="777240" cy="777240"/>
          </a:xfrm>
          <a:prstGeom prst="ellipse">
            <a:avLst/>
          </a:prstGeom>
          <a:solidFill>
            <a:srgbClr val="E8654D"/>
          </a:solidFill>
          <a:ln/>
        </p:spPr>
      </p:sp>
      <p:pic>
        <p:nvPicPr>
          <p:cNvPr id="4" name="Image 1" descr="/home/claude/family_pulse_docs/deck/icons/heartbea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001" y="1015441"/>
            <a:ext cx="575158" cy="57515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77240" y="18745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FAMILYPULSE</a:t>
            </a:r>
            <a:endParaRPr lang="en-US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2788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shared calendar for busy families — built on Flutter &amp; Firebase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822960" y="3520440"/>
            <a:ext cx="2926080" cy="0"/>
          </a:xfrm>
          <a:prstGeom prst="line">
            <a:avLst/>
          </a:prstGeom>
          <a:noFill/>
          <a:ln w="31750">
            <a:solidFill>
              <a:srgbClr val="E8654D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42519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Rex ("Domero") — Project Lead &amp; Developer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Tatu Ekroth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Igor Smirnov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Jimmy Söderström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5989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Centria-ammattikorkeakoulu  ·  Information and Communication Technology  ·  Final Project Presentation  ·  September 9,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E8654D"/>
          </a:solidFill>
          <a:ln/>
        </p:spPr>
      </p:sp>
      <p:pic>
        <p:nvPicPr>
          <p:cNvPr id="3" name="Image 0" descr="/home/claude/family_pulse_docs/deck/icons/bullsey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7137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868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chats are great at talking, bad at planning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“Who’s free Saturday afternoon?” gets buried in minutes inside a group chat. Families need a live, shared source of truth for the schedule — not another feed to scroll through.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48640" y="278892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68196" y="3108960"/>
            <a:ext cx="566928" cy="566928"/>
          </a:xfrm>
          <a:prstGeom prst="ellipse">
            <a:avLst/>
          </a:prstGeom>
          <a:solidFill>
            <a:srgbClr val="1E2A4A"/>
          </a:solidFill>
          <a:ln/>
        </p:spPr>
      </p:sp>
      <p:pic>
        <p:nvPicPr>
          <p:cNvPr id="9" name="Image 1" descr="/home/claude/family_pulse_docs/deck/icons/calenda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897" y="3182661"/>
            <a:ext cx="419527" cy="41952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3232" y="384048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shared calendar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749808" y="4389120"/>
            <a:ext cx="22037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always-current view of the whole family’s schedule on every device.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410712" y="278892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30268" y="3108960"/>
            <a:ext cx="566928" cy="566928"/>
          </a:xfrm>
          <a:prstGeom prst="ellipse">
            <a:avLst/>
          </a:prstGeom>
          <a:solidFill>
            <a:srgbClr val="1E2A4A"/>
          </a:solidFill>
          <a:ln/>
        </p:spPr>
      </p:sp>
      <p:pic>
        <p:nvPicPr>
          <p:cNvPr id="14" name="Image 2" descr="/home/claude/family_pulse_docs/deck/icons/userplu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969" y="3182661"/>
            <a:ext cx="419527" cy="41952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575304" y="384048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in seconds</a:t>
            </a:r>
            <a:endParaRPr lang="en-US" sz="1550" dirty="0"/>
          </a:p>
        </p:txBody>
      </p:sp>
      <p:sp>
        <p:nvSpPr>
          <p:cNvPr id="16" name="Text 11"/>
          <p:cNvSpPr txBox="1"/>
          <p:nvPr/>
        </p:nvSpPr>
        <p:spPr>
          <a:xfrm>
            <a:off x="3611880" y="4389120"/>
            <a:ext cx="22037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referral code makes joining a family simple — including for kids.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272784" y="278892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292340" y="3108960"/>
            <a:ext cx="566928" cy="566928"/>
          </a:xfrm>
          <a:prstGeom prst="ellipse">
            <a:avLst/>
          </a:prstGeom>
          <a:solidFill>
            <a:srgbClr val="1E2A4A"/>
          </a:solidFill>
          <a:ln/>
        </p:spPr>
      </p:sp>
      <p:pic>
        <p:nvPicPr>
          <p:cNvPr id="19" name="Image 3" descr="/home/claude/family_pulse_docs/deck/icons/checkcirc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41" y="3182661"/>
            <a:ext cx="419527" cy="41952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437376" y="384048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feedback</a:t>
            </a:r>
            <a:endParaRPr lang="en-US" sz="1550" dirty="0"/>
          </a:p>
        </p:txBody>
      </p:sp>
      <p:sp>
        <p:nvSpPr>
          <p:cNvPr id="21" name="Text 15"/>
          <p:cNvSpPr txBox="1"/>
          <p:nvPr/>
        </p:nvSpPr>
        <p:spPr>
          <a:xfrm>
            <a:off x="6473952" y="4389120"/>
            <a:ext cx="22037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success and error states everywhere — never a silent failure or raw error.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9134856" y="278892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0154412" y="3108960"/>
            <a:ext cx="566928" cy="566928"/>
          </a:xfrm>
          <a:prstGeom prst="ellipse">
            <a:avLst/>
          </a:prstGeom>
          <a:solidFill>
            <a:srgbClr val="1E2A4A"/>
          </a:solidFill>
          <a:ln/>
        </p:spPr>
      </p:sp>
      <p:pic>
        <p:nvPicPr>
          <p:cNvPr id="24" name="Image 4" descr="/home/claude/family_pulse_docs/deck/icons/group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8113" y="3182661"/>
            <a:ext cx="419527" cy="419527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299448" y="384048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to grow</a:t>
            </a:r>
            <a:endParaRPr lang="en-US" sz="1550" dirty="0"/>
          </a:p>
        </p:txBody>
      </p:sp>
      <p:sp>
        <p:nvSpPr>
          <p:cNvPr id="26" name="Text 19"/>
          <p:cNvSpPr txBox="1"/>
          <p:nvPr/>
        </p:nvSpPr>
        <p:spPr>
          <a:xfrm>
            <a:off x="9336024" y="4389120"/>
            <a:ext cx="22037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Theme, settings and roles laid down as a foundation for deeper family-time features.</a:t>
            </a:r>
            <a:endParaRPr lang="en-US" sz="115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FamilyPulse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E8654D"/>
          </a:solidFill>
          <a:ln/>
        </p:spPr>
      </p:sp>
      <p:pic>
        <p:nvPicPr>
          <p:cNvPr id="3" name="Image 0" descr="/home/claude/family_pulse_docs/deck/icons/cog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7137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868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Flutter, Firebase, Riverpod, GoRouter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057400"/>
            <a:ext cx="566928" cy="566928"/>
          </a:xfrm>
          <a:prstGeom prst="ellipse">
            <a:avLst/>
          </a:prstGeom>
          <a:solidFill>
            <a:srgbClr val="1E2A4A"/>
          </a:solidFill>
          <a:ln/>
        </p:spPr>
      </p:sp>
      <p:pic>
        <p:nvPicPr>
          <p:cNvPr id="8" name="Image 1" descr="/home/claude/family_pulse_docs/deck/icons/mobi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41" y="2131101"/>
            <a:ext cx="419527" cy="41952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1920240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Flutter / Dart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4709160" y="1920240"/>
            <a:ext cx="6537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codebase UI layer — screens, widgets, dialogs.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2962656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77240" y="3191256"/>
            <a:ext cx="566928" cy="566928"/>
          </a:xfrm>
          <a:prstGeom prst="ellipse">
            <a:avLst/>
          </a:prstGeom>
          <a:solidFill>
            <a:srgbClr val="E8654D"/>
          </a:solidFill>
          <a:ln/>
        </p:spPr>
      </p:sp>
      <p:pic>
        <p:nvPicPr>
          <p:cNvPr id="13" name="Image 2" descr="/home/claude/family_pulse_docs/deck/icons/char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41" y="3264957"/>
            <a:ext cx="419527" cy="41952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54480" y="3054096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Riverpod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709160" y="3054096"/>
            <a:ext cx="6537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StreamProviders keep every screen in sync with Firestore in real time — no manual refresh, ever.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096512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77240" y="4325112"/>
            <a:ext cx="566928" cy="566928"/>
          </a:xfrm>
          <a:prstGeom prst="ellipse">
            <a:avLst/>
          </a:prstGeom>
          <a:solidFill>
            <a:srgbClr val="1E2A4A"/>
          </a:solidFill>
          <a:ln/>
        </p:spPr>
      </p:sp>
      <p:pic>
        <p:nvPicPr>
          <p:cNvPr id="18" name="Image 3" descr="/home/claude/family_pulse_docs/deck/icons/roa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41" y="4398813"/>
            <a:ext cx="419527" cy="41952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54480" y="4187952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GoRouter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4709160" y="4187952"/>
            <a:ext cx="6537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Router-level redirect gates every screen behind sign-up/login and family membership — access control lives in one place, not scattered per-screen.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5230368"/>
            <a:ext cx="10881360" cy="1024128"/>
          </a:xfrm>
          <a:prstGeom prst="roundRect">
            <a:avLst>
              <a:gd name="adj" fmla="val 8929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77240" y="5458968"/>
            <a:ext cx="566928" cy="566928"/>
          </a:xfrm>
          <a:prstGeom prst="ellipse">
            <a:avLst/>
          </a:prstGeom>
          <a:solidFill>
            <a:srgbClr val="E8654D"/>
          </a:solidFill>
          <a:ln/>
        </p:spPr>
      </p:sp>
      <p:pic>
        <p:nvPicPr>
          <p:cNvPr id="23" name="Image 4" descr="/home/claude/family_pulse_docs/deck/icons/databas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41" y="5532669"/>
            <a:ext cx="419527" cy="419527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554480" y="5321808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 (Auth + Firestore)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4709160" y="5321808"/>
            <a:ext cx="6537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for accounts; Cloud Firestore as the live, multi-device data store.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FamilyPulse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E8654D"/>
          </a:solidFill>
          <a:ln/>
        </p:spPr>
      </p:sp>
      <p:pic>
        <p:nvPicPr>
          <p:cNvPr id="3" name="Image 0" descr="/home/claude/family_pulse_docs/deck/icons/shiel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7137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SECURITY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868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Firestore structure and field-scoped security rules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4937760" cy="3840480"/>
          </a:xfrm>
          <a:prstGeom prst="roundRect">
            <a:avLst>
              <a:gd name="adj" fmla="val 2381"/>
            </a:avLst>
          </a:prstGeom>
          <a:solidFill>
            <a:srgbClr val="1E2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210312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families/{familyId}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C9C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 users/{userId}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889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 name, label, role, email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C9C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 events/{eventId}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889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 date, category, title, owner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C9CE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 groups/{groupId}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8891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 name, memberIds[]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18288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that matter most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760720" y="2359152"/>
            <a:ext cx="109728" cy="109728"/>
          </a:xfrm>
          <a:prstGeom prst="ellipse">
            <a:avLst/>
          </a:prstGeom>
          <a:solidFill>
            <a:srgbClr val="E8654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035040" y="221284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joins, no data leak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2542032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family ID doubles as its referral code — reading a family only requires being signed in, but there’s no directory that leaks codes.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760720" y="3438144"/>
            <a:ext cx="109728" cy="109728"/>
          </a:xfrm>
          <a:prstGeom prst="ellipse">
            <a:avLst/>
          </a:prstGeom>
          <a:solidFill>
            <a:srgbClr val="E8654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35040" y="32918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Field-scoped parent permission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035040" y="3621024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 can update another member’s name/label only — enforced with affectedKeys().hasOnly([‘name’,‘label’]), not a blanket "parents can edit anything."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760720" y="4517136"/>
            <a:ext cx="109728" cy="109728"/>
          </a:xfrm>
          <a:prstGeom prst="ellipse">
            <a:avLst/>
          </a:prstGeom>
          <a:solidFill>
            <a:srgbClr val="E8654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035040" y="437083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checked via a second read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6035040" y="4700016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get() reads the caller’s own membership doc to confirm role == ‘parent’ before allowing the edit.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FamilyPulse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E8654D"/>
          </a:solidFill>
          <a:ln/>
        </p:spPr>
      </p:sp>
      <p:pic>
        <p:nvPicPr>
          <p:cNvPr id="3" name="Image 0" descr="/home/claude/family_pulse_docs/deck/icons/userplu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7137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TOUR · 01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868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 &amp; family setup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a family from zero to a shared calendar, with no dead ends and no silent failures.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825496"/>
            <a:ext cx="201168" cy="201168"/>
          </a:xfrm>
          <a:prstGeom prst="ellipse">
            <a:avLst/>
          </a:prstGeom>
          <a:solidFill>
            <a:srgbClr val="E8654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258775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sign-up &amp; login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2587752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field validation, confirm-email and confirm-password on sign-up, and a password show/hide toggle.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47472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3785616"/>
            <a:ext cx="201168" cy="201168"/>
          </a:xfrm>
          <a:prstGeom prst="ellipse">
            <a:avLst/>
          </a:prstGeom>
          <a:solidFill>
            <a:srgbClr val="E8654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354787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family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3547872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shareable referral code, shown immediately with copy-to-clipboard — fixed a router-redirect race that used to hide it.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" y="4745736"/>
            <a:ext cx="201168" cy="201168"/>
          </a:xfrm>
          <a:prstGeom prst="ellipse">
            <a:avLst/>
          </a:prstGeom>
          <a:solidFill>
            <a:srgbClr val="E8654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188720" y="450799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 family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4507992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code, pick a role and an optional label ("Mom", "Dad") — resolved a permission-denied bug in the security rules blocking first-time joins.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FamilyPulse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E8654D"/>
          </a:solidFill>
          <a:ln/>
        </p:spPr>
      </p:sp>
      <p:pic>
        <p:nvPicPr>
          <p:cNvPr id="3" name="Image 0" descr="/home/claude/family_pulse_docs/deck/icons/calenda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7137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TOUR · 02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868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shared calendar &amp; categories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of the app: a month view every member sees update in real time, with events that mean something at a glance.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825496"/>
            <a:ext cx="201168" cy="201168"/>
          </a:xfrm>
          <a:prstGeom prst="ellipse">
            <a:avLst/>
          </a:prstGeom>
          <a:solidFill>
            <a:srgbClr val="E8654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258775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2587752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or delete an event on one device — it appears on every other family member’s device instantly, no refresh.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47472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3785616"/>
            <a:ext cx="201168" cy="201168"/>
          </a:xfrm>
          <a:prstGeom prst="ellipse">
            <a:avLst/>
          </a:prstGeom>
          <a:solidFill>
            <a:srgbClr val="E8654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354787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event categories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3547872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/ Hobby / Work / Other, each with a distinct icon and color — previously every event silently saved as "other."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" y="4745736"/>
            <a:ext cx="201168" cy="201168"/>
          </a:xfrm>
          <a:prstGeom prst="ellipse">
            <a:avLst/>
          </a:prstGeom>
          <a:solidFill>
            <a:srgbClr val="E8654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188720" y="450799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Confirmed, guided actions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4507992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and deleting both carry a confirmation step and clear success/error feedback.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FamilyPulse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E8654D"/>
          </a:solidFill>
          <a:ln/>
        </p:spPr>
      </p:sp>
      <p:pic>
        <p:nvPicPr>
          <p:cNvPr id="3" name="Image 0" descr="/home/claude/family_pulse_docs/deck/icons/char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7137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TOUR · 03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868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Analytics: family activity at a glance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entirely client-side from events the app already streams — no new backend, no new Firestore reads.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86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Busiest day of the week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2651760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62636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populated live from each family’s own event data.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6400800" y="2651760"/>
            <a:ext cx="457200" cy="457200"/>
          </a:xfrm>
          <a:prstGeom prst="ellipse">
            <a:avLst/>
          </a:prstGeom>
          <a:solidFill>
            <a:srgbClr val="1E2A4A"/>
          </a:solidFill>
          <a:ln/>
        </p:spPr>
      </p:sp>
      <p:pic>
        <p:nvPicPr>
          <p:cNvPr id="11" name="Image 1" descr="/home/claude/family_pulse_docs/deck/icons/checkcircl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236" y="2711196"/>
            <a:ext cx="338328" cy="33832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040880" y="26243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events &amp; members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7040880" y="29077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counts at the top of the page.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400800" y="3520440"/>
            <a:ext cx="457200" cy="457200"/>
          </a:xfrm>
          <a:prstGeom prst="ellipse">
            <a:avLst/>
          </a:prstGeom>
          <a:solidFill>
            <a:srgbClr val="1E2A4A"/>
          </a:solidFill>
          <a:ln/>
        </p:spPr>
      </p:sp>
      <p:pic>
        <p:nvPicPr>
          <p:cNvPr id="15" name="Image 2" descr="/home/claude/family_pulse_docs/deck/icons/clo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0236" y="3579876"/>
            <a:ext cx="338328" cy="33832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040880" y="34930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7 days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7040880" y="37764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loaded the week ahead already looks.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6400800" y="4389120"/>
            <a:ext cx="457200" cy="457200"/>
          </a:xfrm>
          <a:prstGeom prst="ellipse">
            <a:avLst/>
          </a:prstGeom>
          <a:solidFill>
            <a:srgbClr val="1E2A4A"/>
          </a:solidFill>
          <a:ln/>
        </p:spPr>
      </p:sp>
      <p:pic>
        <p:nvPicPr>
          <p:cNvPr id="19" name="Image 3" descr="/home/claude/family_pulse_docs/deck/icons/group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236" y="4448556"/>
            <a:ext cx="338328" cy="33832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040880" y="43616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added the most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7040880" y="46451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breakdown by family member.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6400800" y="5257800"/>
            <a:ext cx="457200" cy="457200"/>
          </a:xfrm>
          <a:prstGeom prst="ellipse">
            <a:avLst/>
          </a:prstGeom>
          <a:solidFill>
            <a:srgbClr val="1E2A4A"/>
          </a:solidFill>
          <a:ln/>
        </p:spPr>
      </p:sp>
      <p:pic>
        <p:nvPicPr>
          <p:cNvPr id="23" name="Image 4" descr="/home/claude/family_pulse_docs/deck/icons/calendar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0236" y="5317236"/>
            <a:ext cx="338328" cy="33832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040880" y="52303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category</a:t>
            </a:r>
            <a:endParaRPr lang="en-US" sz="1300" dirty="0"/>
          </a:p>
        </p:txBody>
      </p:sp>
      <p:sp>
        <p:nvSpPr>
          <p:cNvPr id="25" name="Text 17"/>
          <p:cNvSpPr txBox="1"/>
          <p:nvPr/>
        </p:nvSpPr>
        <p:spPr>
          <a:xfrm>
            <a:off x="7040880" y="55138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/ Hobby / Work / Other, mirrored from the calendar.</a:t>
            </a:r>
            <a:endParaRPr lang="en-US" sz="1150" dirty="0"/>
          </a:p>
        </p:txBody>
      </p:sp>
      <p:sp>
        <p:nvSpPr>
          <p:cNvPr id="26" name="Text 18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FamilyPulse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E8654D"/>
          </a:solidFill>
          <a:ln/>
        </p:spPr>
      </p:sp>
      <p:pic>
        <p:nvPicPr>
          <p:cNvPr id="3" name="Image 0" descr="/home/claude/family_pulse_docs/deck/icons/clo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7137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TOUR · 04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868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Time finder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the exact question that motivated this whole project: "who’s actually free?"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825496"/>
            <a:ext cx="201168" cy="201168"/>
          </a:xfrm>
          <a:prstGeom prst="ellipse">
            <a:avLst/>
          </a:prstGeom>
          <a:solidFill>
            <a:srgbClr val="E8654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258775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every member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2587752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every family member’s events to surface the windows where nobody has anything 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47472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3785616"/>
            <a:ext cx="201168" cy="201168"/>
          </a:xfrm>
          <a:prstGeom prst="ellipse">
            <a:avLst/>
          </a:prstGeom>
          <a:solidFill>
            <a:srgbClr val="E8654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354787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schedule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3547872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free slot to jump straight into creating an event there — no re-checking the calendar by hand.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" y="4745736"/>
            <a:ext cx="201168" cy="201168"/>
          </a:xfrm>
          <a:prstGeom prst="ellipse">
            <a:avLst/>
          </a:prstGeom>
          <a:solidFill>
            <a:srgbClr val="E8654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188720" y="450799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UI split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4507992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EventService.findFreeSlots() was Igor’s backend work; the screen consuming it was built and wired up this development phase.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FamilyPulse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E8654D"/>
          </a:solidFill>
          <a:ln/>
        </p:spPr>
      </p:sp>
      <p:pic>
        <p:nvPicPr>
          <p:cNvPr id="3" name="Image 0" descr="/home/claude/family_pulse_docs/deck/icons/grou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7137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TOUR · 05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868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Groups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event is for the whole family — Groups let a subset of members share their own space.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825496"/>
            <a:ext cx="201168" cy="201168"/>
          </a:xfrm>
          <a:prstGeom prst="ellipse">
            <a:avLst/>
          </a:prstGeom>
          <a:solidFill>
            <a:srgbClr val="E8654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258775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sub-groups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2587752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"Kids" or "Chores squad" — a group is a name plus a picked subset of family members.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47472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3785616"/>
            <a:ext cx="201168" cy="201168"/>
          </a:xfrm>
          <a:prstGeom prst="ellipse">
            <a:avLst/>
          </a:prstGeom>
          <a:solidFill>
            <a:srgbClr val="E8654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354787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CRUD, self-serve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3547872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rename, edit membership, and delete — no admin step required from a parent.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" y="4745736"/>
            <a:ext cx="201168" cy="201168"/>
          </a:xfrm>
          <a:prstGeom prst="ellipse">
            <a:avLst/>
          </a:prstGeom>
          <a:solidFill>
            <a:srgbClr val="E8654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188720" y="450799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permission model as events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4507992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family member can read/write groups, consistent with how events already work — kept deliberately simple for this scope.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FamilyPulse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E8654D"/>
          </a:solidFill>
          <a:ln/>
        </p:spPr>
      </p:sp>
      <p:pic>
        <p:nvPicPr>
          <p:cNvPr id="3" name="Image 0" descr="/home/claude/family_pulse_docs/deck/icons/userco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7137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TOUR · 06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868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Expanded roles &amp; parent-managed names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now describe real family shapes, and parents can keep the roster accurate without asking each member to fix their own entry.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825496"/>
            <a:ext cx="201168" cy="201168"/>
          </a:xfrm>
          <a:prstGeom prst="ellipse">
            <a:avLst/>
          </a:prstGeom>
          <a:solidFill>
            <a:srgbClr val="E8654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258775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roles, not two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2587752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/ child / guardian / other — a role widens who the family can model, without opening new permissions on its own.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47472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3785616"/>
            <a:ext cx="201168" cy="201168"/>
          </a:xfrm>
          <a:prstGeom prst="ellipse">
            <a:avLst/>
          </a:prstGeom>
          <a:solidFill>
            <a:srgbClr val="E8654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354787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label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3547872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label ("Mom", "Dad", "Grandma") so co-parents or multiple guardians are distinguishable at a glance.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" y="4745736"/>
            <a:ext cx="201168" cy="201168"/>
          </a:xfrm>
          <a:prstGeom prst="ellipse">
            <a:avLst/>
          </a:prstGeom>
          <a:solidFill>
            <a:srgbClr val="E8654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188720" y="450799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can rename others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4507992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in both the UI and Firestore Security Rules — a parent may change only name and label, nothing else, for another member.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FamilyPulse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E8654D"/>
          </a:solidFill>
          <a:ln/>
        </p:spPr>
      </p:sp>
      <p:pic>
        <p:nvPicPr>
          <p:cNvPr id="3" name="Image 0" descr="/home/claude/family_pulse_docs/deck/icons/useredi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7137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TOUR · 07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868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 drawer &amp; Profile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features multiplied, navigation needed a home — and a quiet data-consistency bug needed fixing.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825496"/>
            <a:ext cx="201168" cy="201168"/>
          </a:xfrm>
          <a:prstGeom prst="ellipse">
            <a:avLst/>
          </a:prstGeom>
          <a:solidFill>
            <a:srgbClr val="E8654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258775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drawer, every screen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2587752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Calendar, Family, Groups, Free Time, Analytics, Profile, Settings — reachable consistently from anywhere in the app.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47472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3785616"/>
            <a:ext cx="201168" cy="201168"/>
          </a:xfrm>
          <a:prstGeom prst="ellipse">
            <a:avLst/>
          </a:prstGeom>
          <a:solidFill>
            <a:srgbClr val="E8654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354787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Profile screen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3547872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space for identity, separate from the family-wide Settings screen.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" y="4745736"/>
            <a:ext cx="201168" cy="201168"/>
          </a:xfrm>
          <a:prstGeom prst="ellipse">
            <a:avLst/>
          </a:prstGeom>
          <a:solidFill>
            <a:srgbClr val="E8654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188720" y="450799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two sources of truth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4507992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used to update only Firebase Auth’s display name, silently drifting from the Firestore family roster. Profile and Settings now update both together.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FamilyPulse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mily_pulse_docs/deck/icons/checkcircle_1E2A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-731520"/>
            <a:ext cx="4754880" cy="4754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Built, tested, and working end to end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232C4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216712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266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108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shipped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phase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19272" y="196596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232C4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319272" y="216712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266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10" name="Text 7"/>
          <p:cNvSpPr txBox="1"/>
          <p:nvPr/>
        </p:nvSpPr>
        <p:spPr>
          <a:xfrm>
            <a:off x="3456432" y="3108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items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to just 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89904" y="196596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232C4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089904" y="216712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266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/>
          </a:p>
        </p:txBody>
      </p:sp>
      <p:sp>
        <p:nvSpPr>
          <p:cNvPr id="13" name="Text 10"/>
          <p:cNvSpPr txBox="1"/>
          <p:nvPr/>
        </p:nvSpPr>
        <p:spPr>
          <a:xfrm>
            <a:off x="6227064" y="3108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root-caused bugs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not patched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860536" y="196596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232C4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860536" y="2167128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266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600" dirty="0"/>
          </a:p>
        </p:txBody>
      </p:sp>
      <p:sp>
        <p:nvSpPr>
          <p:cNvPr id="16" name="Text 13"/>
          <p:cNvSpPr txBox="1"/>
          <p:nvPr/>
        </p:nvSpPr>
        <p:spPr>
          <a:xfrm>
            <a:off x="8997696" y="3108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live-tested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25196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creation &amp; login with full validation and clear error messaging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Create/join a family by referral code, with the code visible and copyable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shared calendar with real-time sync and event categories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Free Time finder, Family Groups, expanded roles, parent-rename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4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navigation drawer and Profile screen keeping identity consistent app-wide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E8654D"/>
          </a:solidFill>
          <a:ln/>
        </p:spPr>
      </p:sp>
      <p:pic>
        <p:nvPicPr>
          <p:cNvPr id="3" name="Image 0" descr="/home/claude/family_pulse_docs/deck/icons/codebran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7137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868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practice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this much this fast depended on process as much as code.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825496"/>
            <a:ext cx="201168" cy="201168"/>
          </a:xfrm>
          <a:prstGeom prst="ellipse">
            <a:avLst/>
          </a:prstGeom>
          <a:solidFill>
            <a:srgbClr val="E8654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258775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 + PRs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2587752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lands through a pull request rather than being pushed straight to main.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47472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3785616"/>
            <a:ext cx="201168" cy="201168"/>
          </a:xfrm>
          <a:prstGeom prst="ellipse">
            <a:avLst/>
          </a:prstGeom>
          <a:solidFill>
            <a:srgbClr val="E8654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354787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 checks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3547872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analyze, dart format, and flutter test all run before a commit is allowed to land.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" y="4745736"/>
            <a:ext cx="201168" cy="201168"/>
          </a:xfrm>
          <a:prstGeom prst="ellipse">
            <a:avLst/>
          </a:prstGeom>
          <a:solidFill>
            <a:srgbClr val="E8654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188720" y="450799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build-failure alerts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4507992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GitHub Actions workflow now emails the pusher (and the team) immediately when a push breaks the build — problems surface in minutes, not at the next meeting.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FamilyPulse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E8654D"/>
          </a:solidFill>
          <a:ln/>
        </p:spPr>
      </p:sp>
      <p:pic>
        <p:nvPicPr>
          <p:cNvPr id="3" name="Image 0" descr="/home/claude/family_pulse_docs/deck/icons/bu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7137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· TECHNICAL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868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real bugs, root-caused not patched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91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 on an Android emulator surfaced both of these before they reached users.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825496"/>
            <a:ext cx="201168" cy="201168"/>
          </a:xfrm>
          <a:prstGeom prst="ellipse">
            <a:avLst/>
          </a:prstGeom>
          <a:solidFill>
            <a:srgbClr val="E8654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88720" y="258775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disposal race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2587752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dialog’s TextEditingController was created and disposed by the caller around an awaited showDialog() — disposing it while the dialog was still animating closed crashed the app. Fix: every dialog now owns and disposes its own controller.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47472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3785616"/>
            <a:ext cx="201168" cy="201168"/>
          </a:xfrm>
          <a:prstGeom prst="ellipse">
            <a:avLst/>
          </a:prstGeom>
          <a:solidFill>
            <a:srgbClr val="E8654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3547872"/>
            <a:ext cx="3291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Router-redirect race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3547872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GoRouter redirect reacting to a provider could fire before the screen finished showing the user something important — hiding a newly-created family’s referral code. Fix: user-facing state that must be seen happens before the redirect fires, not after.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FamilyPulse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E8654D"/>
          </a:solidFill>
          <a:ln/>
        </p:spPr>
      </p:sp>
      <p:pic>
        <p:nvPicPr>
          <p:cNvPr id="3" name="Image 0" descr="/home/claude/family_pulse_docs/deck/icons/comment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7137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· TEAM PROCESS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868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 the tool and workflow before dividing up work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0881360" cy="3200400"/>
          </a:xfrm>
          <a:prstGeom prst="roundRect">
            <a:avLst>
              <a:gd name="adj" fmla="val 2857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201168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Partway through development, it emerged that two team members had spent roughly three weeks building a parallel version of this app in FlutterFlow, sharing a single login between them rather than each working under their own account. This was not raised with the rest of the team until late, and it created two real problems: the two builds cannot be merged — FlutterFlow generates its own project structure and cannot be combined with a hand-written Flutter/Firebase codebase — so one of the two efforts is necessarily not carried forward; and a shared login leaves no individual record of who built what, which matters when contribution is assessed per person.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68680" y="3977640"/>
            <a:ext cx="10241280" cy="0"/>
          </a:xfrm>
          <a:prstGeom prst="line">
            <a:avLst/>
          </a:prstGeom>
          <a:noFill/>
          <a:ln w="12700">
            <a:solidFill>
              <a:srgbClr val="E4E4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41148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team’s decision: consolidate on the Flutter/Firebase build described in this presentation, with all members contributing under their own accounts going forward.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257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86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agree the tool and the workflow — including one account per person — as a team before dividing up work, not after.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FamilyPulse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E8654D"/>
          </a:solidFill>
          <a:ln/>
        </p:spPr>
      </p:sp>
      <p:pic>
        <p:nvPicPr>
          <p:cNvPr id="3" name="Image 0" descr="/home/claude/family_pulse_docs/deck/icons/roa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7137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868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Roadmap: what remains is genuinely smaller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502152" cy="457200"/>
          </a:xfrm>
          <a:prstGeom prst="roundRect">
            <a:avLst>
              <a:gd name="adj" fmla="val 16000"/>
            </a:avLst>
          </a:prstGeom>
          <a:solidFill>
            <a:srgbClr val="E8654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182880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450592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56032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events &amp; reminders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2907792"/>
            <a:ext cx="3172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events plus reminder notifications — the one substantive item still open. Meaningfully bigger scope than anything else remaining.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33672" y="1828800"/>
            <a:ext cx="3502152" cy="457200"/>
          </a:xfrm>
          <a:prstGeom prst="roundRect">
            <a:avLst>
              <a:gd name="adj" fmla="val 16000"/>
            </a:avLst>
          </a:prstGeom>
          <a:solidFill>
            <a:srgbClr val="1E2A4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233672" y="182880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33672" y="2450592"/>
            <a:ext cx="3502152" cy="1188720"/>
          </a:xfrm>
          <a:prstGeom prst="roundRect">
            <a:avLst>
              <a:gd name="adj" fmla="val 6154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98264" y="256032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Kid-friendly referral codes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398264" y="2907792"/>
            <a:ext cx="3172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QR code or shorter code so younger members can join without typing a long string.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233672" y="3776472"/>
            <a:ext cx="3502152" cy="1188720"/>
          </a:xfrm>
          <a:prstGeom prst="roundRect">
            <a:avLst>
              <a:gd name="adj" fmla="val 6154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398264" y="388620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Group-specific calendars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398264" y="4233672"/>
            <a:ext cx="3172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Family Group its own event view, now that the base feature exists.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918704" y="1828800"/>
            <a:ext cx="3502152" cy="457200"/>
          </a:xfrm>
          <a:prstGeom prst="roundRect">
            <a:avLst>
              <a:gd name="adj" fmla="val 16000"/>
            </a:avLst>
          </a:prstGeom>
          <a:solidFill>
            <a:srgbClr val="5B647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918704" y="182880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priority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918704" y="2450592"/>
            <a:ext cx="3502152" cy="1188720"/>
          </a:xfrm>
          <a:prstGeom prst="roundRect">
            <a:avLst>
              <a:gd name="adj" fmla="val 6154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083296" y="256032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push notifications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8083296" y="2907792"/>
            <a:ext cx="3172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notifying the family when someone joins or a parent renames a member.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918704" y="3776472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083296" y="388620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role permissions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8083296" y="4233672"/>
            <a:ext cx="3172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 changing another member’s role — deliberately deferred to keep the security-rules change small and auditable.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FamilyPulse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E8654D"/>
          </a:solidFill>
          <a:ln/>
        </p:spPr>
      </p:sp>
      <p:pic>
        <p:nvPicPr>
          <p:cNvPr id="3" name="Image 0" descr="/home/claude/family_pulse_docs/deck/icons/char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7137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POTENTIAL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868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freemium model already proven in this exact market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502152" cy="457200"/>
          </a:xfrm>
          <a:prstGeom prst="roundRect">
            <a:avLst>
              <a:gd name="adj" fmla="val 16000"/>
            </a:avLst>
          </a:prstGeom>
          <a:solidFill>
            <a:srgbClr val="5B647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182880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450592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256032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built this term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2907792"/>
            <a:ext cx="3172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calendar, family groups, free-time finder, analytics, and full profiles — the whole feature set stays free for any one family.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33672" y="1828800"/>
            <a:ext cx="3502152" cy="457200"/>
          </a:xfrm>
          <a:prstGeom prst="roundRect">
            <a:avLst>
              <a:gd name="adj" fmla="val 16000"/>
            </a:avLst>
          </a:prstGeom>
          <a:solidFill>
            <a:srgbClr val="E8654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233672" y="182880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Plus — $3.99/mo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33672" y="2450592"/>
            <a:ext cx="3502152" cy="1188720"/>
          </a:xfrm>
          <a:prstGeom prst="roundRect">
            <a:avLst>
              <a:gd name="adj" fmla="val 6154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98264" y="256032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photo storage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398264" y="2907792"/>
            <a:ext cx="3172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free per-member cap already built this session, backed by Firebase Storage.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233672" y="3776472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398264" y="388620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events + calendar sync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398264" y="4233672"/>
            <a:ext cx="3172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events and reminders (next on the roadmap) plus Google/Outlook export — exactly what Cozi Gold and FamilyWall Premium charge for today.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918704" y="1828800"/>
            <a:ext cx="3502152" cy="457200"/>
          </a:xfrm>
          <a:prstGeom prst="roundRect">
            <a:avLst>
              <a:gd name="adj" fmla="val 16000"/>
            </a:avLst>
          </a:prstGeom>
          <a:solidFill>
            <a:srgbClr val="1E2A4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918704" y="182880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&amp; Group Licensing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918704" y="2450592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7F7F9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083296" y="256032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licensing for organizations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8083296" y="2907792"/>
            <a:ext cx="3172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clubs, classrooms, and after-school programs pay one flat fee to coordinate many families at once — a second revenue line neither Cozi nor FamilyWall targets.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623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6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only: Cozi (Gold $39/yr, Max $79/yr) and FamilyWall ($44.99/yr) both run this same whole-family-not-per-seat model. At a modest 5% free-to-paid conversion, 10,000 free installs ≈ $19,500/year — before any school or club licensing.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FamilyPulse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amily_pulse_docs/deck/icons/heartbeat_1E2A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97280" y="2926080"/>
            <a:ext cx="4937760" cy="49377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9572" y="1371600"/>
            <a:ext cx="749808" cy="749808"/>
          </a:xfrm>
          <a:prstGeom prst="ellipse">
            <a:avLst/>
          </a:prstGeom>
          <a:solidFill>
            <a:srgbClr val="E8654D"/>
          </a:solidFill>
          <a:ln/>
        </p:spPr>
      </p:sp>
      <p:pic>
        <p:nvPicPr>
          <p:cNvPr id="4" name="Image 1" descr="/home/claude/family_pulse_docs/deck/icons/handshak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047" y="1469075"/>
            <a:ext cx="554858" cy="55485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0" y="233172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0" y="31089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631436" y="3794760"/>
            <a:ext cx="2926080" cy="0"/>
          </a:xfrm>
          <a:prstGeom prst="line">
            <a:avLst/>
          </a:prstGeom>
          <a:noFill/>
          <a:ln w="31750">
            <a:solidFill>
              <a:srgbClr val="E8654D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0" y="40233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1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FamilyPulse  ·  Rex ("Domero"), Tatu Ekroth, Igor Smirnov, Jimmy Söderström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0" y="43434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Centria-ammattikorkeakoulu  ·  September 9,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2026-08-26T16:41:29Z</dcterms:created>
  <dcterms:modified xsi:type="dcterms:W3CDTF">2026-08-26T16:41:29Z</dcterms:modified>
</cp:coreProperties>
</file>